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5999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4000" y="558000"/>
            <a:ext cx="19836000" cy="2914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7999" y="684000"/>
            <a:ext cx="19728000" cy="3671999"/>
          </a:xfrm>
          <a:prstGeom prst="rect">
            <a:avLst/>
          </a:prstGeom>
          <a:solidFill>
            <a:srgbClr val="205280"/>
          </a:solidFill>
          <a:ln w="762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99" y="882000"/>
            <a:ext cx="1800000" cy="1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8799" y="1054800"/>
            <a:ext cx="1454400" cy="1454400"/>
          </a:xfrm>
          <a:prstGeom prst="ellipse">
            <a:avLst/>
          </a:prstGeom>
          <a:solidFill>
            <a:srgbClr val="DFEBF7"/>
          </a:solidFill>
          <a:ln w="1016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9999" y="1404000"/>
            <a:ext cx="1332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F4E79"/>
                </a:solidFill>
                <a:latin typeface="Arial"/>
              </a:rPr>
              <a:t>PAÜ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999" y="1818000"/>
            <a:ext cx="133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F4E79"/>
                </a:solidFill>
                <a:latin typeface="Arial"/>
              </a:rPr>
              <a:t>DENİZLİ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6000" y="684000"/>
            <a:ext cx="5220000" cy="93600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1">
                <a:solidFill>
                  <a:srgbClr val="000000"/>
                </a:solidFill>
                <a:latin typeface="Arial"/>
              </a:rPr>
              <a:t>GBYF Proje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000" y="954000"/>
            <a:ext cx="120960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Pamukkale Üniversitesi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000" y="1494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PAÜ Market: Kampüs İçi Akıllı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8000" y="1890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İkinci El Pazar Yeri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000" y="2970000"/>
            <a:ext cx="12096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Hasan Toğmuş, Berke  --  Danışman: [Danışman Öğretim Üyesi]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000" y="3330000"/>
            <a:ext cx="1209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BF2FA"/>
                </a:solidFill>
                <a:latin typeface="Arial"/>
              </a:rPr>
              <a:t>Bilgisayar Mühendisliği Bitirme Projesi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15999" y="4608000"/>
            <a:ext cx="19152000" cy="22752000"/>
          </a:xfrm>
          <a:prstGeom prst="rect">
            <a:avLst/>
          </a:prstGeom>
          <a:solidFill>
            <a:srgbClr val="D9D9D9"/>
          </a:solidFill>
          <a:ln w="1143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47999" y="4752000"/>
            <a:ext cx="125999" cy="2246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32000" y="4842000"/>
            <a:ext cx="9072000" cy="3600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32000" y="4842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6000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Proje Özeti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0800" y="5363999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A0A0A"/>
                </a:solidFill>
                <a:latin typeface="Arial"/>
              </a:rPr>
              <a:t>PAÜ Market, Pamukkale Üniversitesi öğrencilerine özel kapalı bir C2C ikinci el pazar yeri uygulamasıdır.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A0A0A"/>
                </a:solidFill>
                <a:latin typeface="Arial"/>
              </a:rPr>
              <a:t>Okul e-postasıyla doğrulanan öğrenciler ilan ekler, ilanları keşfeder, favoriler, satıcıya mesaj atar ve anlaşma isteği gönderir.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A0A0A"/>
                </a:solidFill>
                <a:latin typeface="Arial"/>
              </a:rPr>
              <a:t>Tezin teknik odağı, kullanıcı etkileşimlerinden öğrenen kişiselleştirilmiş öneri sistemidir.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32000" y="8766000"/>
            <a:ext cx="9072000" cy="3960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32000" y="8766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6000" y="8830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Problem ve Amaç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50800" y="9288000"/>
            <a:ext cx="8834400" cy="336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Genel e-ticaret platformları öğrenciler için güven, yerellik ve erişim problemini tam çözmemektedir.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Bu projede amaç; sadece PAÜ öğrencilerine açık, doğrulanmış, moderasyon destekli ve öneri sistemiyle kişiselleşen bir kampüs pazarı geliştirmektir.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Platform güvenli kullanıcı doğrulama, ilan yönetimi, mesajlaşma, anlaşma/satış kaydı ve satıcı değerlendirme süreçlerini tek sistemde toplar.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32000" y="13050000"/>
            <a:ext cx="9072000" cy="4464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32000" y="13050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6000" y="13114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Sistem Mimarisi ve Teknolojiler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50800" y="13572000"/>
            <a:ext cx="8834400" cy="387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A0A0A"/>
                </a:solidFill>
                <a:latin typeface="Arial"/>
              </a:rPr>
              <a:t>• Frontend: React + Vite ile responsive kullanıcı arayüzü.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A0A0A"/>
                </a:solidFill>
                <a:latin typeface="Arial"/>
              </a:rPr>
              <a:t>• Backend: ASP.NET Core Web API, JWT kimlik doğrulama, servis katmanı ve DTO yapısı.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A0A0A"/>
                </a:solidFill>
                <a:latin typeface="Arial"/>
              </a:rPr>
              <a:t>• Veritabanı: MSSQL + Entity Framework Core.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A0A0A"/>
                </a:solidFill>
                <a:latin typeface="Arial"/>
              </a:rPr>
              <a:t>• Öneri Servisi: Python + FastAPI mikroservisi.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A0A0A"/>
                </a:solidFill>
                <a:latin typeface="Arial"/>
              </a:rPr>
              <a:t>• DevOps: Docker Compose ile frontend, backend, SQL ve recommender birlikte çalıştırılır.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32000" y="17838000"/>
            <a:ext cx="9072000" cy="4500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32000" y="17838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6000" y="1790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Platform Özellikleri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0800" y="18360000"/>
            <a:ext cx="8834400" cy="39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• PAÜ e-posta doğrulamalı kayıt, giriş ve şifre sıfırlama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• Çoklu fotoğraflı ilan oluşturma ve kapak görseli sıralama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• Favori, güvenli mesajlaşma ve anlaşma isteği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• Satıldı akışı, alıcı kaydı ve satıcı değerlendirme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A0A0A"/>
                </a:solidFill>
                <a:latin typeface="Arial"/>
              </a:rPr>
              <a:t>• Admin paneli ve ilan moderasyonu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16000" y="4842000"/>
            <a:ext cx="9072000" cy="4752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016000" y="4842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069999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Öneri Sistemi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34799" y="5363999"/>
            <a:ext cx="8834400" cy="4157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Öneri sistemi, kullanıcı-ilan etkileşimlerini implicit feedback olarak yorumlar.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Etkileşim ağırlıkları: görüntüleme=1.0, mesaj=2.0, favori=3.0, anlaşma isteği=4.0, kabul=4.5, satın alma/satıldı=5.0.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Matris yapısı R[u, i] biçimindedir; satırlar kullanıcıları, sütunlar ilanları, hücreler ilgi gücünü temsil eder.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LightFM tabanlı hibrit yaklaşım collaborative sinyalleri kategori/içerik özellikleriyle birleştirir.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016000" y="9917999"/>
            <a:ext cx="9072000" cy="4176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016000" y="9917999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69999" y="99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Pilot Veri Planı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34799" y="10439999"/>
            <a:ext cx="8834400" cy="358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Tez sunumu öncesinde küçük ölçekli gerçek kampüs pilotu yapılacaktır.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Planlanan veri: 30-50 ilan, 10-20 PAÜ öğrencisi, kişi başı 10-20 etkileşim.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Her kullanıcı kendi okul e-postasıyla giriş yapacak; görüntüleme, favori, mesaj ve anlaşma isteği davranışları toplanacaktır.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A0A0A"/>
                </a:solidFill>
                <a:latin typeface="Arial"/>
              </a:rPr>
              <a:t>Amaç sentetik veri yerine gerçek öğrencilerden kontrollü ve açıklanabilir pilot veri elde etmektir.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016000" y="14417999"/>
            <a:ext cx="9072000" cy="3600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016000" y="14417999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9999" y="144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Değerlendirme Yaklaşımı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34799" y="14940000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A0A0A"/>
                </a:solidFill>
                <a:latin typeface="Arial"/>
              </a:rPr>
              <a:t>Bu sistem klasik sınıflandırma problemi olmadığı için tek başına accuracy metriği kullanılmaz.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A0A0A"/>
                </a:solidFill>
                <a:latin typeface="Arial"/>
              </a:rPr>
              <a:t>Recommender sistemlerde Top-N sıralama metrikleri daha uygundur: Precision@5, Recall@5, HitRate@5, NDCG@5 ve RMSE.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A0A0A"/>
                </a:solidFill>
                <a:latin typeface="Arial"/>
              </a:rPr>
              <a:t>Pilot veri toplandıktan sonra model PAÜ Market verisiyle yeniden eğitilecek ve sonuçlar bu tabloya işlenecektir.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1196000" y="18198000"/>
          <a:ext cx="8712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20"/>
                <a:gridCol w="2178000"/>
                <a:gridCol w="3397680"/>
              </a:tblGrid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>
                    <a:solidFill>
                      <a:srgbClr val="2052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Durum</a:t>
                      </a:r>
                    </a:p>
                  </a:txBody>
                  <a:tcPr>
                    <a:solidFill>
                      <a:srgbClr val="2052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Anlamı</a:t>
                      </a:r>
                    </a:p>
                  </a:txBody>
                  <a:tcPr>
                    <a:solidFill>
                      <a:srgbClr val="205280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A0A0A"/>
                          </a:solidFill>
                          <a:latin typeface="Arial"/>
                        </a:rPr>
                        <a:t>Precision@5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İlk 5 önerinin isabeti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A0A0A"/>
                          </a:solidFill>
                          <a:latin typeface="Arial"/>
                        </a:rPr>
                        <a:t>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İlk 5'te doğru öneri var mı?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A0A0A"/>
                          </a:solidFill>
                          <a:latin typeface="Arial"/>
                        </a:rPr>
                        <a:t>Recall@5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İlgili ilanları yakalama oranı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A0A0A"/>
                          </a:solidFill>
                          <a:latin typeface="Arial"/>
                        </a:rPr>
                        <a:t>NDCG@5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Doğru önerinin sıralamadaki yeri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A0A0A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A0A0A"/>
                          </a:solidFill>
                          <a:latin typeface="Arial"/>
                        </a:rPr>
                        <a:t>Etkileşim tahmin hatası</a:t>
                      </a:r>
                    </a:p>
                  </a:txBody>
                  <a:tcPr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46" name="Rectangle 45"/>
          <p:cNvSpPr/>
          <p:nvPr/>
        </p:nvSpPr>
        <p:spPr>
          <a:xfrm>
            <a:off x="11016000" y="21222000"/>
            <a:ext cx="9072000" cy="4716000"/>
          </a:xfrm>
          <a:prstGeom prst="rect">
            <a:avLst/>
          </a:prstGeom>
          <a:solidFill>
            <a:srgbClr val="F1F1F1"/>
          </a:solidFill>
          <a:ln w="7620">
            <a:solidFill>
              <a:srgbClr val="8EA9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016000" y="21222000"/>
            <a:ext cx="9072000" cy="424800"/>
          </a:xfrm>
          <a:prstGeom prst="rect">
            <a:avLst/>
          </a:prstGeom>
          <a:solidFill>
            <a:srgbClr val="205280"/>
          </a:solidFill>
          <a:ln w="5080">
            <a:solidFill>
              <a:srgbClr val="20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69999" y="2128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Beklenen Sonuç ve Katkılar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34799" y="21744000"/>
            <a:ext cx="8834400" cy="412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A0A0A"/>
                </a:solidFill>
                <a:latin typeface="Arial"/>
              </a:rPr>
              <a:t>• PAÜ Market, kampüs içinde doğrulanmış ve güvenli ikinci el alışveriş ortamı sunar.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A0A0A"/>
                </a:solidFill>
                <a:latin typeface="Arial"/>
              </a:rPr>
              <a:t>• Mesajlaşma ve anlaşma akışı sayesinde gerçek satın alma niyeti veri olarak toplanır.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A0A0A"/>
                </a:solidFill>
                <a:latin typeface="Arial"/>
              </a:rPr>
              <a:t>• Öneri sistemi kullanıcıların ilgi alanlarına göre ilanları sıralayarak keşif sürecini kolaylaştırır.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A0A0A"/>
                </a:solidFill>
                <a:latin typeface="Arial"/>
              </a:rPr>
              <a:t>• Mikroservis mimarisi, öneri modelini ana backend'den ayırarak sürdürülebilir bir yapı sağlar.</a:t>
            </a:r>
          </a:p>
        </p:txBody>
      </p:sp>
      <p:sp>
        <p:nvSpPr>
          <p:cNvPr id="50" name="Oval 49"/>
          <p:cNvSpPr/>
          <p:nvPr/>
        </p:nvSpPr>
        <p:spPr>
          <a:xfrm>
            <a:off x="4734000" y="28656000"/>
            <a:ext cx="864000" cy="864000"/>
          </a:xfrm>
          <a:prstGeom prst="ellipse">
            <a:avLst/>
          </a:prstGeom>
          <a:solidFill>
            <a:srgbClr val="B42828"/>
          </a:solidFill>
          <a:ln w="1905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24000" y="28936800"/>
            <a:ext cx="68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GBYF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13999" y="28620000"/>
            <a:ext cx="864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Genç Beyinler Yeni Fikirler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13999" y="28980000"/>
            <a:ext cx="864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Proje Pazarı ve Bitirme Projeleri Ortak Sergisi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