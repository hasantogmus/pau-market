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7816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7816" cy="30275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77240"/>
            <a:ext cx="19568160" cy="28483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914400"/>
            <a:ext cx="19476719" cy="3520440"/>
          </a:xfrm>
          <a:prstGeom prst="rect">
            <a:avLst/>
          </a:prstGeom>
          <a:solidFill>
            <a:srgbClr val="205280"/>
          </a:solidFill>
          <a:ln w="7620">
            <a:solidFill>
              <a:srgbClr val="20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7008" y="1115568"/>
            <a:ext cx="1325880" cy="1325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62456" y="1271016"/>
            <a:ext cx="1014983" cy="1014983"/>
          </a:xfrm>
          <a:prstGeom prst="ellipse">
            <a:avLst/>
          </a:prstGeom>
          <a:solidFill>
            <a:srgbClr val="D9E6F2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176" y="1444752"/>
            <a:ext cx="923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PAÜ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73936"/>
            <a:ext cx="9966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70" b="1">
                <a:solidFill>
                  <a:srgbClr val="1F4E79"/>
                </a:solidFill>
                <a:latin typeface="Arial"/>
              </a:rPr>
              <a:t>DENİZLİ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19" y="914400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GBYF Proje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19" y="132588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[Proje No]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170432"/>
            <a:ext cx="13075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Pamukkale Üniversitesi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874519"/>
            <a:ext cx="15453359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PAÜ Market: Kampüs İçi Akıllı İkinci El Pazar Yeri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27248"/>
            <a:ext cx="1554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rial"/>
              </a:rPr>
              <a:t>Hasan Toğmuş, Berke  --  Danışman: [Danışman Öğretim Üyesi]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11880"/>
            <a:ext cx="1554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1">
                <a:solidFill>
                  <a:srgbClr val="E6EEF7"/>
                </a:solidFill>
                <a:latin typeface="Arial"/>
              </a:rPr>
              <a:t>Bilgisayar Mühendisliği Bitirme Projesi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4663440"/>
            <a:ext cx="18928080" cy="22448520"/>
          </a:xfrm>
          <a:prstGeom prst="rect">
            <a:avLst/>
          </a:prstGeom>
          <a:solidFill>
            <a:srgbClr val="D9D9D9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8752" y="4800600"/>
            <a:ext cx="164592" cy="22174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4892040"/>
            <a:ext cx="8778240" cy="361188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4892040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7048" y="496062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Proje Özeti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5458968"/>
            <a:ext cx="8503919" cy="2926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60" b="0">
                <a:solidFill>
                  <a:srgbClr val="141414"/>
                </a:solidFill>
                <a:latin typeface="Arial"/>
              </a:rPr>
              <a:t>PAÜ Market, Pamukkale Üniversitesi öğrencilerine özel kapalı bir C2C ikinci el pazar yeri uygulamasıdır.</a:t>
            </a:r>
          </a:p>
          <a:p>
            <a:pPr>
              <a:spcAft>
                <a:spcPts val="420"/>
              </a:spcAft>
            </a:pPr>
            <a:r>
              <a:rPr sz="860" b="0">
                <a:solidFill>
                  <a:srgbClr val="141414"/>
                </a:solidFill>
                <a:latin typeface="Arial"/>
              </a:rPr>
              <a:t>Sistem; okul e-postasıyla doğrulanan kullanıcıların ilan eklemesini, ilanları keşfetmesini, favorilemesini, satıcıyla mesajlaşmasını ve anlaşma isteği göndermesini sağlar.</a:t>
            </a:r>
          </a:p>
          <a:p>
            <a:pPr>
              <a:spcAft>
                <a:spcPts val="420"/>
              </a:spcAft>
            </a:pPr>
            <a:r>
              <a:rPr sz="860" b="0">
                <a:solidFill>
                  <a:srgbClr val="141414"/>
                </a:solidFill>
                <a:latin typeface="Arial"/>
              </a:rPr>
              <a:t>Tezin teknik odağı, bu etkileşimlerden öğrenerek kişiselleştirilmiş ilan önerileri üreten hibrit öneri sistemidir.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1328" y="8823959"/>
            <a:ext cx="8778240" cy="388620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81328" y="8823959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8892539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 ve Amaç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9390887"/>
            <a:ext cx="8503919" cy="3200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Genel e-ticaret platformları öğrenciler için güven ve kampüs içi erişim problemini tam çözmemektedir.</a:t>
            </a:r>
          </a:p>
          <a:p>
            <a:pPr>
              <a:spcAft>
                <a:spcPts val="42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Bu projede amaç; sadece PAÜ öğrencilerine açık, doğrulanmış, moderasyon destekli ve kullanıcı davranışlarından öğrenebilen bir pazar yeri geliştirmektir.</a:t>
            </a:r>
          </a:p>
          <a:p>
            <a:pPr>
              <a:spcAft>
                <a:spcPts val="42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Platformun ana hedefleri: güvenli kullanıcı doğrulama, ilan yönetimi, mesajlaşma, anlaşma/satış kaydı ve kişiselleştirilmiş önerilerdir.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1328" y="13030200"/>
            <a:ext cx="8778240" cy="416052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81328" y="13030200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7048" y="1309878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Kullanılan Teknolojiler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13597128"/>
            <a:ext cx="8503919" cy="3474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Frontend: React + Vite ile responsive kullanıcı arayüzü.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Backend: ASP.NET Core Web API, JWT tabanlı kimlik doğrulama ve servis katmanı.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Veritabanı: MSSQL + Entity Framework Core.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Öneri Servisi: Python + FastAPI mikroservisi.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DevOps: Docker Compose ile frontend, backend, SQL ve recommender servisleri birlikte çalıştırılır.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17510760"/>
            <a:ext cx="8778240" cy="461772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81328" y="17510760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27048" y="17579339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Sistem Mimarisi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18077688"/>
            <a:ext cx="8503919" cy="3931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Kullanıcı davranışları frontend üzerinden backend'e iletilir ve Interaction tablosuna kaydedilir.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Backend; ilan, kullanıcı, mesaj, favori, anlaşma ve satış süreçlerini yönetir.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Recommender servisi eğitim sırasında PAÜ Market etkileşim export'unu kullanır; öneri sırasında backend'e gerçek Listing.Id değerleri döner.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Backend önerileri tekrar doğrular: onaylı, aktif, satılmamış ve gösterilebilir ilanlar kullanıcıya sunulur.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22448519"/>
            <a:ext cx="8778240" cy="443484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81328" y="22448519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27048" y="22517099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Platform Özellikleri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8488" y="23015448"/>
            <a:ext cx="8503919" cy="37490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40" b="0">
                <a:solidFill>
                  <a:srgbClr val="141414"/>
                </a:solidFill>
                <a:latin typeface="Arial"/>
              </a:rPr>
              <a:t>• PAÜ e-posta doğrulamalı kayıt ve giriş</a:t>
            </a:r>
          </a:p>
          <a:p>
            <a:pPr>
              <a:spcAft>
                <a:spcPts val="420"/>
              </a:spcAft>
            </a:pPr>
            <a:r>
              <a:rPr sz="840" b="0">
                <a:solidFill>
                  <a:srgbClr val="141414"/>
                </a:solidFill>
                <a:latin typeface="Arial"/>
              </a:rPr>
              <a:t>• Şifre sıfırlama ve profil yönetimi</a:t>
            </a:r>
          </a:p>
          <a:p>
            <a:pPr>
              <a:spcAft>
                <a:spcPts val="420"/>
              </a:spcAft>
            </a:pPr>
            <a:r>
              <a:rPr sz="840" b="0">
                <a:solidFill>
                  <a:srgbClr val="141414"/>
                </a:solidFill>
                <a:latin typeface="Arial"/>
              </a:rPr>
              <a:t>• Çoklu fotoğraflı ilan oluşturma</a:t>
            </a:r>
          </a:p>
          <a:p>
            <a:pPr>
              <a:spcAft>
                <a:spcPts val="420"/>
              </a:spcAft>
            </a:pPr>
            <a:r>
              <a:rPr sz="840" b="0">
                <a:solidFill>
                  <a:srgbClr val="141414"/>
                </a:solidFill>
                <a:latin typeface="Arial"/>
              </a:rPr>
              <a:t>• Favori, mesajlaşma ve anlaşma isteği</a:t>
            </a:r>
          </a:p>
          <a:p>
            <a:pPr>
              <a:spcAft>
                <a:spcPts val="420"/>
              </a:spcAft>
            </a:pPr>
            <a:r>
              <a:rPr sz="840" b="0">
                <a:solidFill>
                  <a:srgbClr val="141414"/>
                </a:solidFill>
                <a:latin typeface="Arial"/>
              </a:rPr>
              <a:t>• Satıldı akışı, alıcı kaydı ve satıcı değerlendirme</a:t>
            </a:r>
          </a:p>
          <a:p>
            <a:pPr>
              <a:spcAft>
                <a:spcPts val="420"/>
              </a:spcAft>
            </a:pPr>
            <a:r>
              <a:rPr sz="840" b="0">
                <a:solidFill>
                  <a:srgbClr val="141414"/>
                </a:solidFill>
                <a:latin typeface="Arial"/>
              </a:rPr>
              <a:t>• Admin paneli ve ilan moderasyonu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54512" y="4892040"/>
            <a:ext cx="8778240" cy="553212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54512" y="4892040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00232" y="496062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Öneri Sistemi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1672" y="5458968"/>
            <a:ext cx="8503919" cy="4846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30" b="0">
                <a:solidFill>
                  <a:srgbClr val="141414"/>
                </a:solidFill>
                <a:latin typeface="Arial"/>
              </a:rPr>
              <a:t>Öneri sistemi, kullanıcı-ilan etkileşimlerini implicit feedback olarak yorumlar. Her davranış kullanıcı ilgisinin farklı seviyesini temsil eder.</a:t>
            </a:r>
          </a:p>
          <a:p>
            <a:pPr>
              <a:spcAft>
                <a:spcPts val="420"/>
              </a:spcAft>
            </a:pPr>
            <a:r>
              <a:rPr sz="830" b="0">
                <a:solidFill>
                  <a:srgbClr val="141414"/>
                </a:solidFill>
                <a:latin typeface="Arial"/>
              </a:rPr>
              <a:t>Etkileşim ağırlıkları: görüntüleme=1.0, mesaj=2.0, favori=3.0, anlaşma isteği=4.0, kabul=4.5, satın alma/satıldı=5.0.</a:t>
            </a:r>
          </a:p>
          <a:p>
            <a:pPr>
              <a:spcAft>
                <a:spcPts val="420"/>
              </a:spcAft>
            </a:pPr>
            <a:r>
              <a:rPr sz="830" b="0">
                <a:solidFill>
                  <a:srgbClr val="141414"/>
                </a:solidFill>
                <a:latin typeface="Arial"/>
              </a:rPr>
              <a:t>Matris yapısı R[u, i] şeklindedir: satırlar kullanıcıları, sütunlar ilanları, hücreler ise ilgi gücünü temsil eder.</a:t>
            </a:r>
          </a:p>
          <a:p>
            <a:pPr>
              <a:spcAft>
                <a:spcPts val="420"/>
              </a:spcAft>
            </a:pPr>
            <a:r>
              <a:rPr sz="830" b="0">
                <a:solidFill>
                  <a:srgbClr val="141414"/>
                </a:solidFill>
                <a:latin typeface="Arial"/>
              </a:rPr>
              <a:t>LightFM tabanlı hibrit yaklaşım collaborative sinyalleri kategori/içerik özellikleriyle birleştirir. Cold-start durumunda kategori, onboarding ve popüler/yeni ilan fallback'i kullanılır.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54512" y="10744200"/>
            <a:ext cx="8778240" cy="416052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54512" y="10744200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00232" y="1081278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Pilot Veri Planı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11311128"/>
            <a:ext cx="8503919" cy="3474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19" b="0">
                <a:solidFill>
                  <a:srgbClr val="141414"/>
                </a:solidFill>
                <a:latin typeface="Arial"/>
              </a:rPr>
              <a:t>Tez sunumu öncesinde küçük ölçekli gerçek kampüs pilotu yapılacaktır.</a:t>
            </a:r>
          </a:p>
          <a:p>
            <a:pPr>
              <a:spcAft>
                <a:spcPts val="420"/>
              </a:spcAft>
            </a:pPr>
            <a:r>
              <a:rPr sz="819" b="0">
                <a:solidFill>
                  <a:srgbClr val="141414"/>
                </a:solidFill>
                <a:latin typeface="Arial"/>
              </a:rPr>
              <a:t>Planlanan veri: 30-50 ilan, 10-20 PAÜ öğrencisi, kişi başı 10-20 etkileşim.</a:t>
            </a:r>
          </a:p>
          <a:p>
            <a:pPr>
              <a:spcAft>
                <a:spcPts val="420"/>
              </a:spcAft>
            </a:pPr>
            <a:r>
              <a:rPr sz="819" b="0">
                <a:solidFill>
                  <a:srgbClr val="141414"/>
                </a:solidFill>
                <a:latin typeface="Arial"/>
              </a:rPr>
              <a:t>Her kullanıcı kendi okul e-postasıyla giriş yapacak; ilan görüntüleme, favori, mesaj ve anlaşma isteği gibi gerçek davranışlar bırakacaktır.</a:t>
            </a:r>
          </a:p>
          <a:p>
            <a:pPr>
              <a:spcAft>
                <a:spcPts val="420"/>
              </a:spcAft>
            </a:pPr>
            <a:r>
              <a:rPr sz="819" b="0">
                <a:solidFill>
                  <a:srgbClr val="141414"/>
                </a:solidFill>
                <a:latin typeface="Arial"/>
              </a:rPr>
              <a:t>Amaç sentetik veri üretmek değil, gerçek öğrencilerden kontrollü ve açıklanabilir pilot veri toplamaktır.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54512" y="15224759"/>
            <a:ext cx="8778240" cy="342900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54512" y="15224759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00232" y="15293339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Değerlendirme Yaklaşımı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15791688"/>
            <a:ext cx="8503919" cy="2743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Bu sistem klasik sınıflandırma problemi olmadığı için tek başına accuracy metriği kullanılmaz.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Recommender sistemlerde Top-N sıralama metrikleri daha uygundur: Precision@5, Recall@5, HitRate@5, NDCG@5 ve RMSE.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Pilot veri toplandıktan sonra model PAÜ Market verisiyle yeniden eğitilecek ve metrikler bu alana işlenecektir.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11137392" y="18882360"/>
          <a:ext cx="841247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617"/>
                <a:gridCol w="1934870"/>
                <a:gridCol w="3364991"/>
              </a:tblGrid>
              <a:tr h="4572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Metrik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Durum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Açıklama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1414"/>
                          </a:solidFill>
                          <a:latin typeface="Arial"/>
                        </a:rPr>
                        <a:t>Precision@5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Pilot sonrası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İlk 5 önerinin isabeti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1414"/>
                          </a:solidFill>
                          <a:latin typeface="Arial"/>
                        </a:rPr>
                        <a:t>HitRate@5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Pilot sonrası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İlk 5'te en az 1 doğru öneri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1414"/>
                          </a:solidFill>
                          <a:latin typeface="Arial"/>
                        </a:rPr>
                        <a:t>Recall@5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Pilot sonrası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İlgili ilanları yakalama oranı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1414"/>
                          </a:solidFill>
                          <a:latin typeface="Arial"/>
                        </a:rPr>
                        <a:t>NDCG@5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Pilot sonrası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Doğru önerinin sıralamadaki yeri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1414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Pilot sonrası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0">
                          <a:solidFill>
                            <a:srgbClr val="141414"/>
                          </a:solidFill>
                          <a:latin typeface="Arial"/>
                        </a:rPr>
                        <a:t>Etkileşim ağırlığı tahmin hatası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10954512" y="21991319"/>
            <a:ext cx="8778240" cy="4892040"/>
          </a:xfrm>
          <a:prstGeom prst="rect">
            <a:avLst/>
          </a:prstGeom>
          <a:solidFill>
            <a:srgbClr val="EFEFEF"/>
          </a:solidFill>
          <a:ln w="7620"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54512" y="21991319"/>
            <a:ext cx="8778240" cy="411480"/>
          </a:xfrm>
          <a:prstGeom prst="rect">
            <a:avLst/>
          </a:prstGeom>
          <a:solidFill>
            <a:srgbClr val="1F4E79"/>
          </a:solidFill>
          <a:ln w="50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00232" y="22059899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Beklenen Sonuç ve Katkılar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1672" y="22558248"/>
            <a:ext cx="8503919" cy="4206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PAÜ Market, kampüs içinde güvenli ve doğrulanmış ikinci el alışveriş ortamı sunar.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Mesajlaşma ve anlaşma akışı sayesinde sadece tıklama değil, gerçek satın alma niyeti de veri olarak toplanır.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Öneri sistemi kullanıcıların ilgi alanlarına göre ilanları sıralayarak keşif sürecini kolaylaştırır.</a:t>
            </a:r>
          </a:p>
          <a:p>
            <a:pPr>
              <a:spcAft>
                <a:spcPts val="420"/>
              </a:spcAft>
            </a:pPr>
            <a:r>
              <a:rPr sz="825" b="0">
                <a:solidFill>
                  <a:srgbClr val="141414"/>
                </a:solidFill>
                <a:latin typeface="Arial"/>
              </a:rPr>
              <a:t>Mikroservis mimarisi, öneri modelini ana backend'den ayırarak ölçeklenebilir ve sürdürülebilir bir yapı sağlar.</a:t>
            </a:r>
          </a:p>
        </p:txBody>
      </p:sp>
      <p:sp>
        <p:nvSpPr>
          <p:cNvPr id="54" name="Oval 53"/>
          <p:cNvSpPr/>
          <p:nvPr/>
        </p:nvSpPr>
        <p:spPr>
          <a:xfrm>
            <a:off x="4800600" y="28072080"/>
            <a:ext cx="731520" cy="731520"/>
          </a:xfrm>
          <a:prstGeom prst="ellipse">
            <a:avLst/>
          </a:prstGeom>
          <a:solidFill>
            <a:srgbClr val="B42828"/>
          </a:solidFill>
          <a:ln w="1905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73752" y="28318968"/>
            <a:ext cx="585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GBYF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27953208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Genç Beyinler Yeni Fikirler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0" y="28410408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Proje Pazarı ve Bitirme Projeleri Ortak Sergisi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