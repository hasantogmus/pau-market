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29184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38862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118800" y="-2011680"/>
            <a:ext cx="8686800" cy="8686800"/>
          </a:xfrm>
          <a:prstGeom prst="ellipse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2735519" y="1051560"/>
            <a:ext cx="4754880" cy="4754880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685800"/>
            <a:ext cx="132588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2563EB"/>
                </a:solidFill>
                <a:latin typeface="Georgia"/>
              </a:rPr>
              <a:t>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594360"/>
            <a:ext cx="5943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PAÜ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143000"/>
            <a:ext cx="26060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Pamukkale Üniversitesi Öğrencilerine Özel Akıllı İkinci El Pazar Yeri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2148840"/>
            <a:ext cx="2834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20" b="0">
                <a:solidFill>
                  <a:srgbClr val="E2E8F0"/>
                </a:solidFill>
                <a:latin typeface="Aptos"/>
              </a:rPr>
              <a:t>PAÜ e-posta doğrulamalı güvenli kampüs pazarı • Mesajlaşma ve anlaşma akışı • Kullanıcı etkileşimlerinden öğrenen hibrit öneri sistemi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2816352"/>
            <a:ext cx="7223760" cy="420624"/>
          </a:xfrm>
          <a:prstGeom prst="roundRect">
            <a:avLst/>
          </a:prstGeom>
          <a:solidFill>
            <a:srgbClr val="2563E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Hazırlayanlar: Hasan Toğmuş ve Berke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816352"/>
            <a:ext cx="7223760" cy="420624"/>
          </a:xfrm>
          <a:prstGeom prst="roundRect">
            <a:avLst/>
          </a:prstGeom>
          <a:solidFill>
            <a:srgbClr val="0F766E"/>
          </a:solidFill>
          <a:ln w="1524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Danışman: [Danışman Öğretim Üyesi]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602200" y="2816352"/>
            <a:ext cx="7589520" cy="420624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Bilgisayar Mühendisliği Bitirme Projesi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572000"/>
            <a:ext cx="13213080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4572000"/>
            <a:ext cx="118872" cy="41605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77316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1. Problem ve Amaç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303520"/>
            <a:ext cx="12710159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Öğrenciler kampüs içinde ikinci el ürün alıp satarken güven, iletişim ve doğrulama problemi yaşıyor.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Genel pazar yeri uygulamaları PAÜ öğrencilerine özel değildir; kullanıcı güveni ve kampüs bağlamı zayıftır.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Amaç: PAÜ e-postasıyla doğrulanan, ilan ve mesajlaşma akışı olan, öneri sistemiyle kişiselleşen bir kampüs pazarı geliştirmek.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9144000"/>
            <a:ext cx="13213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9144000"/>
            <a:ext cx="118872" cy="475488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934516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2. Temel Kullanıcı Akışı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9875520"/>
            <a:ext cx="127101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Kayıt: yalnızca @posta.pau.edu.tr uzantılı okul e-postası kabul edilir.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İlan: kategori, durum, fiyat, açıklama ve çoklu fotoğraf ile yayınlanır.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Etkileşim: görüntüleme, favori, mesaj, anlaşma isteği, kabul ve satıldı sinyalleri kaydedilir.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Güven: satıcı profili, PAÜ doğrulama rozeti, değerlendirme ve admin moderasyonu desteklenir.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14401800"/>
            <a:ext cx="13213080" cy="5623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14401800"/>
            <a:ext cx="118872" cy="5623560"/>
          </a:xfrm>
          <a:prstGeom prst="rect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1460296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3. Sistem Mimarisi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15133320"/>
            <a:ext cx="12710159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Frontend: React + Vite ile responsive kullanıcı arayüzü.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Backend: ASP.NET Core Web API, JWT authentication, servis katmanı ve DTO yapısı.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Veritabanı: MSSQL / Entity Framework Core; kullanıcı, ilan, mesaj, etkileşim ve satış kayıtları.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Recommender: Python + FastAPI mikroservisi, backend ile HTTP üzerinden haberleşir.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DevOps: Docker Compose ile frontend, backend, SQL ve recommender tek komutla ayağa kalkar.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20528280"/>
            <a:ext cx="13213080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" y="20528280"/>
            <a:ext cx="118872" cy="46177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2072944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4. Öne Çıkan Özellikler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21259800"/>
            <a:ext cx="12710159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✓ PAÜ okul e-postası doğrulama ve şifre sıfırlama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✓ İlan oluşturma, düzenleme, çoklu görsel ve kapak sıralama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✓ Favoriler ve güvenli mesajlaşma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✓ Anlaşma isteği, satıldı akışı ve alıcı/satıcı kaydı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✓ Satıcı değerlendirme ve admin/moderasyon paneli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133320" y="4572000"/>
            <a:ext cx="13213080" cy="6080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133320" y="4572000"/>
            <a:ext cx="118872" cy="60807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453360" y="477316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5. Öneri Sistemi Yaklaşımı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53360" y="5303520"/>
            <a:ext cx="12710159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Sistem klasik 'accuracy' problemi değil, Top-N ürün sıralama problemidir.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Kullanıcı-ilan etkileşim matrisi implicit feedback mantığıyla kurulur.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Event ağırlıkları: view=1.0, message=2.0, favorite=3.0, deal_request=4.0, purchase=5.0.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LightFM tabanlı hibrit yaklaşım collaborative sinyalleri kategori/içerik bilgisiyle birleştirir.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Cold-start durumunda backend; onboarding, kategori ilgisi ve popüler/yeni ilan fallback'i kullanır.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133320" y="11109960"/>
            <a:ext cx="13213080" cy="28803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453360" y="11384280"/>
            <a:ext cx="12573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Veri Akışı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544800" y="12051792"/>
            <a:ext cx="3749039" cy="9601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681959" y="12252960"/>
            <a:ext cx="34747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F172A"/>
                </a:solidFill>
                <a:latin typeface="Aptos"/>
              </a:rPr>
              <a:t>Kullanıcı</a:t>
            </a:r>
            <a:br/>
            <a:r>
              <a:t>Etkileşimi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348704" y="12234672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05320" y="12051792"/>
            <a:ext cx="3749039" cy="9601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842480" y="12252960"/>
            <a:ext cx="34747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F172A"/>
                </a:solidFill>
                <a:latin typeface="Aptos"/>
              </a:rPr>
              <a:t>Backend</a:t>
            </a:r>
            <a:br/>
            <a:r>
              <a:t>Interactions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509223" y="12234672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865840" y="12051792"/>
            <a:ext cx="3749039" cy="9601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003000" y="12252960"/>
            <a:ext cx="34747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F172A"/>
                </a:solidFill>
                <a:latin typeface="Aptos"/>
              </a:rPr>
              <a:t>Python</a:t>
            </a:r>
            <a:br/>
            <a: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669744" y="12234672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026360" y="12051792"/>
            <a:ext cx="3749039" cy="9601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163519" y="12252960"/>
            <a:ext cx="34747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F172A"/>
                </a:solidFill>
                <a:latin typeface="Aptos"/>
              </a:rPr>
              <a:t>Sana Özel</a:t>
            </a:r>
            <a:br/>
            <a:r>
              <a:t>Öneriler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133320" y="14493240"/>
            <a:ext cx="13213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5133320" y="14493240"/>
            <a:ext cx="118872" cy="49377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453360" y="1469440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6. Recommender Matematiği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453360" y="15224759"/>
            <a:ext cx="1271015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Ana matris: R ∈ R^(|U| × |I|). Satırlar kullanıcı, sütunlar ilan, hücreler ilgi ağırlığıdır.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Sparse matrix kullanılır; çünkü her kullanıcı tüm ilanlarla etkileşmez.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Train/test ayrımı zaman tabanlı yapılır; önceki etkileşimlerden sonraki davranış tahmin edilir.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Model çıktısı backend'e gerçek PAÜ Market Listing.Id ile döner; backend aktif/onaylı/satılmamış ilan filtresi uygular.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133320" y="19933920"/>
            <a:ext cx="1321308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5133320" y="19933920"/>
            <a:ext cx="118872" cy="45720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453360" y="2013508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7. Neden Pilot Veri?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453360" y="20665440"/>
            <a:ext cx="1271015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Büyük ölçekli gerçek PAÜ Market verisi başlangıçta yoktur.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Kontrollü pilot, sentetik veri yerine gerçek öğrencilerden gerçek davranış toplar.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Pilot sonrası model PAÜ Market etkileşimleriyle yeniden eğitilir.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Bu çalışma nihai ticari doğruluk değil, kampüs verisinden öğrenebilme kabiliyetini gösterir.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133320" y="24917400"/>
            <a:ext cx="13213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133320" y="24917400"/>
            <a:ext cx="118872" cy="4480560"/>
          </a:xfrm>
          <a:prstGeom prst="rect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453360" y="2511856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8. İki Veri Seti Savunması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453360" y="25648920"/>
            <a:ext cx="1271015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RetailRocket: tıklama/favori/satın alma benzeri interaction matrix simülasyonu için kullanılır.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Mercari: ikinci el ürün başlığı, açıklama, kategori ve kondisyon içeriğini analiz etmek için kullanılır.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ID'ler doğrudan eşleştirilmez; model çıktısı backend doğrulamasından geçer.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PAÜ pilot verisi biriktikçe ana değerlendirme kaynağı PAÜ Market export'u olacaktır.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260800" y="4572000"/>
            <a:ext cx="13213080" cy="5074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260800" y="4572000"/>
            <a:ext cx="118872" cy="50749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580840" y="477316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9. Pilot Çalışma Planı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580840" y="5303520"/>
            <a:ext cx="12710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30-50 gerçekçi ilan: elektronik, ders kitabı, ev eşyası, giyim, hobi/spor ve not/özet.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10-20 PAÜ öğrencisi: her kullanıcı kendi hesabıyla giriş yapar.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Kişi başı 10-20 davranış: görüntüleme, favori, mesaj ve anlaşma isteği.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3-5 tamamlanmış satış senaryosu: satıcı değerlendirme ve güçlü satın alma sinyali.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260800" y="10104120"/>
            <a:ext cx="1321308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580840" y="10378440"/>
            <a:ext cx="12573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10. Değerlendirme Metrikleri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29580840" y="11064240"/>
          <a:ext cx="12573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2766060"/>
                <a:gridCol w="4274820"/>
              </a:tblGrid>
              <a:tr h="5562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Ölçüm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Durum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ptos"/>
                        </a:rPr>
                        <a:t>Poster Notu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120" b="1">
                          <a:solidFill>
                            <a:srgbClr val="0F172A"/>
                          </a:solidFill>
                          <a:latin typeface="Aptos"/>
                        </a:rPr>
                        <a:t>Pilot kullanıcı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10-20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Gerçek PAÜ öğrencisi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120" b="1">
                          <a:solidFill>
                            <a:srgbClr val="0F172A"/>
                          </a:solidFill>
                          <a:latin typeface="Aptos"/>
                        </a:rPr>
                        <a:t>İlan sayısı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30-50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Kategori dengeli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120" b="1">
                          <a:solidFill>
                            <a:srgbClr val="0F172A"/>
                          </a:solidFill>
                          <a:latin typeface="Aptos"/>
                        </a:rPr>
                        <a:t>Etkileşim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150-400+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view/favorite/message/deal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120" b="1">
                          <a:solidFill>
                            <a:srgbClr val="0F172A"/>
                          </a:solidFill>
                          <a:latin typeface="Aptos"/>
                        </a:rPr>
                        <a:t>Precision@5 / HitRate@5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Accuracy yerine Top-N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r>
                        <a:rPr sz="1120" b="1">
                          <a:solidFill>
                            <a:srgbClr val="0F172A"/>
                          </a:solidFill>
                          <a:latin typeface="Aptos"/>
                        </a:rPr>
                        <a:t>RMSE / NDCG@5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Pilot sonrası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0" b="0">
                          <a:solidFill>
                            <a:srgbClr val="475569"/>
                          </a:solidFill>
                          <a:latin typeface="Aptos"/>
                        </a:rPr>
                        <a:t>Model değerlendirme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5" name="Rounded Rectangle 64"/>
          <p:cNvSpPr/>
          <p:nvPr/>
        </p:nvSpPr>
        <p:spPr>
          <a:xfrm>
            <a:off x="29260800" y="15544800"/>
            <a:ext cx="13213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9260800" y="15544800"/>
            <a:ext cx="118872" cy="4754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580840" y="15745967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11. Beklenen Katkılar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580840" y="16276320"/>
            <a:ext cx="127101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PAÜ öğrencilerine özel, doğrulanmış ve güvenli C2C pazar yeri deneyimi.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Mesajlaşma ve anlaşma akışı sayesinde alıcı-satıcı niyetinin veri olarak tutulması.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Recommender sistemi için kampüs bağlamına uygun interaction ağırlıkları.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• Docker tabanlı, çok servisli ve genişletilebilir yazılım mimarisi.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9260800" y="20802600"/>
            <a:ext cx="13213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260800" y="20802600"/>
            <a:ext cx="118872" cy="44805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580840" y="21003768"/>
            <a:ext cx="1271015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12. Sonuç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580840" y="21534120"/>
            <a:ext cx="1271015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PAÜ Market; okul e-postası doğrulamalı güvenli pazar yeri, admin moderasyonu, kullanıcı mesajlaşması, anlaşma/satış kaydı ve hibrit öneri sistemiyle kampüs odaklı uçtan uca bir ürün prototipidir.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475569"/>
                </a:solidFill>
                <a:latin typeface="Aptos"/>
              </a:rPr>
              <a:t>Sunum sonrası pilot verilerle recommender modeli yeniden eğitilerek Precision@5, HitRate@5, Recall@5, NDCG@5 ve RMSE metrikleri final postere işlenecektir.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9260800" y="25740360"/>
            <a:ext cx="13213080" cy="361188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9580840" y="26014680"/>
            <a:ext cx="12573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"/>
              </a:rPr>
              <a:t>Standda Gösterilecek Demo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672280" y="26700480"/>
            <a:ext cx="12390119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475569"/>
                </a:solidFill>
                <a:latin typeface="Aptos"/>
              </a:rPr>
              <a:t>1) Okul e-postasıyla kayıt/doğrulama</a:t>
            </a:r>
            <a:br/>
            <a:r>
              <a:t>2) İlan keşfi, favori ve mesajlaşma</a:t>
            </a:r>
            <a:br/>
            <a:r>
              <a:t>3) Anlaşma isteği ve satıldı akışı</a:t>
            </a:r>
            <a:br/>
            <a:r>
              <a:t>4) Kullanıcı profili/değerlendirme</a:t>
            </a:r>
            <a:br/>
            <a:r>
              <a:t>5) Sana Özel Öneriler alanı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30723840"/>
            <a:ext cx="4389120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5840" y="31135319"/>
            <a:ext cx="30632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20" b="1">
                <a:solidFill>
                  <a:srgbClr val="0F172A"/>
                </a:solidFill>
                <a:latin typeface="Aptos"/>
              </a:rPr>
              <a:t>Teknolojiler: React/Vite • ASP.NET Core Web API • MSSQL/EF Core • Python/FastAPI • LightFM • Docker Compose • Cloudinary • Brevo SMTP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840" y="31747968"/>
            <a:ext cx="2606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40" b="0">
                <a:solidFill>
                  <a:srgbClr val="64748B"/>
                </a:solidFill>
                <a:latin typeface="Aptos"/>
              </a:rPr>
              <a:t>Not: Pilot metrik alanı gerçek kullanıcı etkileşimleri toplandıktan sonra güncellenecektir.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5661600" y="31254192"/>
            <a:ext cx="2743200" cy="420624"/>
          </a:xfrm>
          <a:prstGeom prst="roundRect">
            <a:avLst/>
          </a:prstGeom>
          <a:solidFill>
            <a:srgbClr val="2563E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PAÜ Market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33400" y="31254192"/>
            <a:ext cx="1463040" cy="420624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