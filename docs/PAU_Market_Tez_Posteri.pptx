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5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5999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4000" y="558000"/>
            <a:ext cx="19836000" cy="2914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7999" y="684000"/>
            <a:ext cx="19728000" cy="3671999"/>
          </a:xfrm>
          <a:prstGeom prst="rect">
            <a:avLst/>
          </a:prstGeom>
          <a:solidFill>
            <a:srgbClr val="2563EB"/>
          </a:solidFill>
          <a:ln w="762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5999" y="882000"/>
            <a:ext cx="1800000" cy="180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98799" y="1054800"/>
            <a:ext cx="1454400" cy="1454400"/>
          </a:xfrm>
          <a:prstGeom prst="ellipse">
            <a:avLst/>
          </a:prstGeom>
          <a:solidFill>
            <a:srgbClr val="E5F1FF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59999" y="1404000"/>
            <a:ext cx="1332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F172A"/>
                </a:solidFill>
                <a:latin typeface="Arial"/>
              </a:rPr>
              <a:t>PAÜ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9999" y="1818000"/>
            <a:ext cx="1332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rial"/>
              </a:rPr>
              <a:t>DENİZLİ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6000" y="684000"/>
            <a:ext cx="5220000" cy="936000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5000" b="1">
                <a:solidFill>
                  <a:srgbClr val="000000"/>
                </a:solidFill>
                <a:latin typeface="Arial"/>
              </a:rPr>
              <a:t>GBYF Proje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000" y="954000"/>
            <a:ext cx="12096000" cy="39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FFFFFF"/>
                </a:solidFill>
                <a:latin typeface="Arial"/>
              </a:rPr>
              <a:t>Pamukkale Üniversitesi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8000" y="1494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PAÜ Market: Kampüs İçi Akıllı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8000" y="1890000"/>
            <a:ext cx="12096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İkinci El Pazar Yeri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8000" y="2970000"/>
            <a:ext cx="12096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Hasan Toğmuş, Berke  --  Danışman: [Danışman Öğretim Üyesi]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8000" y="3330000"/>
            <a:ext cx="1209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BF2FA"/>
                </a:solidFill>
                <a:latin typeface="Arial"/>
              </a:rPr>
              <a:t>Bilgisayar Mühendisliği Bitirme Projesi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50000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0B981"/>
                </a:solidFill>
                <a:latin typeface="Arial"/>
              </a:rPr>
              <a:t>PAÜ e-posta doğrulama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3999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0F172A"/>
                </a:solidFill>
                <a:latin typeface="Arial"/>
              </a:rPr>
              <a:t>Güvenli mesajlaşma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98000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E40AF"/>
                </a:solidFill>
                <a:latin typeface="Arial"/>
              </a:rPr>
              <a:t>Kampüs içi teslim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22000" y="3762000"/>
            <a:ext cx="2754000" cy="306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80" b="1">
                <a:solidFill>
                  <a:srgbClr val="10B981"/>
                </a:solidFill>
                <a:latin typeface="Arial"/>
              </a:rPr>
              <a:t>LightFM öneri sistemi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15999" y="4608000"/>
            <a:ext cx="19152000" cy="22752000"/>
          </a:xfrm>
          <a:prstGeom prst="rect">
            <a:avLst/>
          </a:prstGeom>
          <a:solidFill>
            <a:srgbClr val="E5F1FF"/>
          </a:solidFill>
          <a:ln w="1143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47999" y="4752000"/>
            <a:ext cx="125999" cy="22464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32000" y="4842000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32000" y="4842000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2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86000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Proje Özeti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50800" y="5363999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PAÜ Market, Pamukkale Üniversitesi öğrencilerine özel kapalı bir C2C ikinci el pazar yeri uygulamasıdır.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Okul e-postasıyla doğrulanan öğrenciler ilan ekler, ilanları keşfeder, favoriler, satıcıya mesaj atar ve anlaşma isteği gönderir.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20" b="0">
                <a:solidFill>
                  <a:srgbClr val="0F172A"/>
                </a:solidFill>
                <a:latin typeface="Arial"/>
              </a:rPr>
              <a:t>Tezin teknik odağı, kullanıcı etkileşimlerinden öğrenen kişiselleştirilmiş öneri sistemidir.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38000" y="7793999"/>
            <a:ext cx="2520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Sadece PAÜ öğrencileri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56000" y="7793999"/>
            <a:ext cx="2412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Kampüs içi alışveriş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66000" y="7793999"/>
            <a:ext cx="2088000" cy="360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80" b="1">
                <a:solidFill>
                  <a:srgbClr val="0F172A"/>
                </a:solidFill>
                <a:latin typeface="Arial"/>
              </a:rPr>
              <a:t>Akıllı öneriler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32000" y="8766000"/>
            <a:ext cx="9072000" cy="396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32000" y="8766000"/>
            <a:ext cx="79200" cy="396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32000" y="8766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86000" y="8830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Problem ve Amaç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0800" y="9288000"/>
            <a:ext cx="8834400" cy="336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Genel e-ticaret platformları öğrenciler için güven, yerellik ve erişim problemini tam çözmemektedir.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Bu projede amaç; sadece PAÜ öğrencilerine açık, doğrulanmış, moderasyon destekli ve öneri sistemiyle kişiselleşen bir kampüs pazarı geliştirmektir.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Platform güvenli kullanıcı doğrulama, ilan yönetimi, mesajlaşma, anlaşma/satış kaydı ve satıcı değerlendirme süreçlerini tek sistemde toplar.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45999" y="10843200"/>
            <a:ext cx="3600000" cy="17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E40AF"/>
                </a:solidFill>
                <a:latin typeface="Arial"/>
              </a:rPr>
              <a:t>Güvenli alışveriş akışı</a:t>
            </a:r>
          </a:p>
        </p:txBody>
      </p:sp>
      <p:sp>
        <p:nvSpPr>
          <p:cNvPr id="35" name="Oval 34"/>
          <p:cNvSpPr/>
          <p:nvPr/>
        </p:nvSpPr>
        <p:spPr>
          <a:xfrm>
            <a:off x="1745999" y="11087999"/>
            <a:ext cx="594000" cy="594000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58000" y="11771999"/>
            <a:ext cx="1170000" cy="3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90" b="1">
                <a:solidFill>
                  <a:srgbClr val="0F172A"/>
                </a:solidFill>
                <a:latin typeface="Arial"/>
              </a:rPr>
              <a:t>Okul e-postası</a:t>
            </a:r>
            <a:br/>
            <a:r>
              <a:t>ile doğrula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2365200" y="11383200"/>
            <a:ext cx="11628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3671999" y="11087999"/>
            <a:ext cx="594000" cy="59400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999" y="11771999"/>
            <a:ext cx="1170000" cy="3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90" b="1">
                <a:solidFill>
                  <a:srgbClr val="0F172A"/>
                </a:solidFill>
                <a:latin typeface="Arial"/>
              </a:rPr>
              <a:t>İlanı keşfet</a:t>
            </a:r>
            <a:br/>
            <a:r>
              <a:t>ve favorile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291200" y="11383200"/>
            <a:ext cx="1162799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598000" y="11087999"/>
            <a:ext cx="594000" cy="594000"/>
          </a:xfrm>
          <a:prstGeom prst="ellipse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9999" y="11771999"/>
            <a:ext cx="1170000" cy="3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90" b="1">
                <a:solidFill>
                  <a:srgbClr val="0F172A"/>
                </a:solidFill>
                <a:latin typeface="Arial"/>
              </a:rPr>
              <a:t>Satıcıyla</a:t>
            </a:r>
            <a:br/>
            <a:r>
              <a:t>mesajlaş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217200" y="11383200"/>
            <a:ext cx="11628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523999" y="11087999"/>
            <a:ext cx="594000" cy="594000"/>
          </a:xfrm>
          <a:prstGeom prst="ellipse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5999" y="11771999"/>
            <a:ext cx="1170000" cy="34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90" b="1">
                <a:solidFill>
                  <a:srgbClr val="0F172A"/>
                </a:solidFill>
                <a:latin typeface="Arial"/>
              </a:rPr>
              <a:t>Kampüste</a:t>
            </a:r>
            <a:br/>
            <a:r>
              <a:t>el değiştir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32000" y="13050000"/>
            <a:ext cx="9072000" cy="4464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332000" y="13050000"/>
            <a:ext cx="79200" cy="4464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32000" y="13050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86000" y="13114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Sistem Mimarisi ve Teknolojiler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50800" y="13572000"/>
            <a:ext cx="8834400" cy="387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Frontend: React + Vite ile responsive kullanıcı arayüzü.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Backend: ASP.NET Core Web API, JWT kimlik doğrulama, servis katmanı ve DTO yapısı.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Veritabanı: MSSQL + Entity Framework Core.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Öneri Servisi: Python + FastAPI mikroservisi.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80" b="0">
                <a:solidFill>
                  <a:srgbClr val="0F172A"/>
                </a:solidFill>
                <a:latin typeface="Arial"/>
              </a:rPr>
              <a:t>• DevOps: Docker Compose ile frontend, backend, SQL ve recommender birlikte çalıştırılır.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18000" y="16020000"/>
            <a:ext cx="1728000" cy="827999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React</a:t>
            </a:r>
            <a:br/>
            <a:r>
              <a:t>Arayüz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852000" y="16020000"/>
            <a:ext cx="1728000" cy="827999"/>
          </a:xfrm>
          <a:prstGeom prst="roundRect">
            <a:avLst/>
          </a:prstGeom>
          <a:solidFill>
            <a:srgbClr val="1E40AF"/>
          </a:solidFill>
          <a:ln w="1016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.NET</a:t>
            </a:r>
            <a:br/>
            <a:r>
              <a:t>API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886000" y="16020000"/>
            <a:ext cx="1728000" cy="827999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MSSQL</a:t>
            </a:r>
            <a:br/>
            <a:r>
              <a:t>Veri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20000" y="16020000"/>
            <a:ext cx="1872000" cy="827999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FastAPI</a:t>
            </a:r>
            <a:br/>
            <a:r>
              <a:t>Öneri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546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580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614000" y="16434000"/>
            <a:ext cx="306000" cy="0"/>
          </a:xfrm>
          <a:prstGeom prst="line">
            <a:avLst/>
          </a:prstGeom>
          <a:ln w="2159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1818000" y="16956000"/>
            <a:ext cx="7992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Docker Compose ile tek komutla çalışan dağıtık yapı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32000" y="17838000"/>
            <a:ext cx="9072000" cy="7703999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32000" y="17838000"/>
            <a:ext cx="79200" cy="7703999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32000" y="17838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86000" y="1790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Platform Özellikleri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50800" y="18360000"/>
            <a:ext cx="8834400" cy="7110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PAÜ e-posta doğrulamalı kayıt, giriş ve şifre sıfırlama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Çoklu fotoğraflı ilan oluşturma ve kapak görseli sıralama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Favori, güvenli mesajlaşma ve anlaşma isteği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Satıldı akışı, alıcı kaydı ve satıcı değerlendirme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600" b="0">
                <a:solidFill>
                  <a:srgbClr val="0F172A"/>
                </a:solidFill>
                <a:latin typeface="Arial"/>
              </a:rPr>
              <a:t>• Admin paneli ve ilan moderasyonu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745999" y="21618000"/>
            <a:ext cx="7703999" cy="2951999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745999" y="21618000"/>
            <a:ext cx="7703999" cy="486000"/>
          </a:xfrm>
          <a:prstGeom prst="rect">
            <a:avLst/>
          </a:prstGeom>
          <a:solidFill>
            <a:srgbClr val="0F172A"/>
          </a:solidFill>
          <a:ln w="381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998000" y="21733200"/>
            <a:ext cx="306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PAÜ Market arayüz örneği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562000" y="21733200"/>
            <a:ext cx="3348000" cy="259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Ara: macbook, şarj, ders notu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5999" y="22355999"/>
            <a:ext cx="2322000" cy="163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106000" y="22445999"/>
            <a:ext cx="737999" cy="720000"/>
          </a:xfrm>
          <a:prstGeom prst="rect">
            <a:avLst/>
          </a:prstGeom>
          <a:solidFill>
            <a:srgbClr val="2563EB"/>
          </a:solidFill>
          <a:ln w="381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60800" y="22546800"/>
            <a:ext cx="45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33999" y="22492800"/>
            <a:ext cx="120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70" b="1">
                <a:solidFill>
                  <a:srgbClr val="0F172A"/>
                </a:solidFill>
                <a:latin typeface="Arial"/>
              </a:rPr>
              <a:t>MacBook Air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33999" y="22805999"/>
            <a:ext cx="90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563EB"/>
                </a:solidFill>
                <a:latin typeface="Arial"/>
              </a:rPr>
              <a:t>₺18.500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933999" y="23130000"/>
            <a:ext cx="1026000" cy="259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60" b="1">
                <a:solidFill>
                  <a:srgbClr val="1E40AF"/>
                </a:solidFill>
                <a:latin typeface="Arial"/>
              </a:rPr>
              <a:t>Elektronik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3999" y="23471999"/>
            <a:ext cx="104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PAÜ Kampüsü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41999" y="22428000"/>
            <a:ext cx="23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C2626"/>
                </a:solidFill>
                <a:latin typeface="Arial"/>
              </a:rPr>
              <a:t>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28000" y="22355999"/>
            <a:ext cx="2322000" cy="163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18000" y="22445999"/>
            <a:ext cx="737999" cy="720000"/>
          </a:xfrm>
          <a:prstGeom prst="rect">
            <a:avLst/>
          </a:prstGeom>
          <a:solidFill>
            <a:srgbClr val="10B981"/>
          </a:solidFill>
          <a:ln w="381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72800" y="22546800"/>
            <a:ext cx="45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46000" y="22492800"/>
            <a:ext cx="120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70" b="1">
                <a:solidFill>
                  <a:srgbClr val="0F172A"/>
                </a:solidFill>
                <a:latin typeface="Arial"/>
              </a:rPr>
              <a:t>Şarj Aleti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346000" y="22805999"/>
            <a:ext cx="90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563EB"/>
                </a:solidFill>
                <a:latin typeface="Arial"/>
              </a:rPr>
              <a:t>₺250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346000" y="23130000"/>
            <a:ext cx="1026000" cy="259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60" b="1">
                <a:solidFill>
                  <a:srgbClr val="1E40AF"/>
                </a:solidFill>
                <a:latin typeface="Arial"/>
              </a:rPr>
              <a:t>Elektronik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46000" y="23471999"/>
            <a:ext cx="104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PAÜ Kampüsü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53999" y="22428000"/>
            <a:ext cx="23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C2626"/>
                </a:solidFill>
                <a:latin typeface="Arial"/>
              </a:rPr>
              <a:t>♥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40000" y="22355999"/>
            <a:ext cx="2322000" cy="163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930000" y="22445999"/>
            <a:ext cx="737999" cy="720000"/>
          </a:xfrm>
          <a:prstGeom prst="rect">
            <a:avLst/>
          </a:prstGeom>
          <a:solidFill>
            <a:srgbClr val="1E40AF"/>
          </a:solidFill>
          <a:ln w="381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084800" y="22546800"/>
            <a:ext cx="45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58000" y="22492800"/>
            <a:ext cx="1206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70" b="1">
                <a:solidFill>
                  <a:srgbClr val="0F172A"/>
                </a:solidFill>
                <a:latin typeface="Arial"/>
              </a:rPr>
              <a:t>Algoritma Notu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58000" y="22805999"/>
            <a:ext cx="900000" cy="23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2563EB"/>
                </a:solidFill>
                <a:latin typeface="Arial"/>
              </a:rPr>
              <a:t>₺50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758000" y="23130000"/>
            <a:ext cx="1026000" cy="259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60" b="1">
                <a:solidFill>
                  <a:srgbClr val="1E40AF"/>
                </a:solidFill>
                <a:latin typeface="Arial"/>
              </a:rPr>
              <a:t>Not / Özet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58000" y="23471999"/>
            <a:ext cx="104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>
                <a:solidFill>
                  <a:srgbClr val="475569"/>
                </a:solidFill>
                <a:latin typeface="Arial"/>
              </a:rPr>
              <a:t>PAÜ Kampüsü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66000" y="22428000"/>
            <a:ext cx="23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DC2626"/>
                </a:solidFill>
                <a:latin typeface="Arial"/>
              </a:rPr>
              <a:t>♥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1016000" y="4842000"/>
            <a:ext cx="9072000" cy="4752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016000" y="4842000"/>
            <a:ext cx="79200" cy="4752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016000" y="4842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69999" y="4906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Öneri Sistemi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134799" y="5363999"/>
            <a:ext cx="8834400" cy="4157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Öneri sistemi, kullanıcı-ilan etkileşimlerini implicit feedback olarak yorumlar.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Etkileşim ağırlıkları: görüntüleme=1.0, mesaj=2.0, favori=3.0, anlaşma isteği=4.0, kabul=4.5, satın alma/satıldı=5.0.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Matris yapısı R[u, i] biçimindedir; satırlar kullanıcıları, sütunlar ilanları, hücreler ilgi gücünü temsil eder.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LightFM tabanlı hibrit yaklaşım collaborative sinyalleri kategori/içerik özellikleriyle birleştirir.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76000" y="7560000"/>
            <a:ext cx="324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E40AF"/>
                </a:solidFill>
                <a:latin typeface="Arial"/>
              </a:rPr>
              <a:t>Etkileşim gücü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1376000" y="7793999"/>
            <a:ext cx="630000" cy="403200"/>
          </a:xfrm>
          <a:prstGeom prst="roundRect">
            <a:avLst/>
          </a:prstGeom>
          <a:solidFill>
            <a:srgbClr val="E5F1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1.0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240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Görüntüleme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2520800" y="7793999"/>
            <a:ext cx="630000" cy="403200"/>
          </a:xfrm>
          <a:prstGeom prst="roundRect">
            <a:avLst/>
          </a:prstGeom>
          <a:solidFill>
            <a:srgbClr val="DBEAFE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1E40AF"/>
                </a:solidFill>
                <a:latin typeface="Arial"/>
              </a:rPr>
              <a:t>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22688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Mesaj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3665600" y="7793999"/>
            <a:ext cx="630000" cy="403200"/>
          </a:xfrm>
          <a:prstGeom prst="roundRect">
            <a:avLst/>
          </a:prstGeom>
          <a:solidFill>
            <a:srgbClr val="CCFBF1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F172A"/>
                </a:solidFill>
                <a:latin typeface="Arial"/>
              </a:rPr>
              <a:t>3.0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34136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Favori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4810400" y="7793999"/>
            <a:ext cx="630000" cy="403200"/>
          </a:xfrm>
          <a:prstGeom prst="roundRect">
            <a:avLst/>
          </a:prstGeom>
          <a:solidFill>
            <a:srgbClr val="BBF7D0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0F172A"/>
                </a:solidFill>
                <a:latin typeface="Arial"/>
              </a:rPr>
              <a:t>4.0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45584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Anlaşma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5955200" y="7793999"/>
            <a:ext cx="630000" cy="403200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703200" y="8254800"/>
            <a:ext cx="1134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60" b="1">
                <a:solidFill>
                  <a:srgbClr val="0F172A"/>
                </a:solidFill>
                <a:latin typeface="Arial"/>
              </a:rPr>
              <a:t>Satıldı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1664000" y="8578800"/>
            <a:ext cx="4751999" cy="0"/>
          </a:xfrm>
          <a:prstGeom prst="line">
            <a:avLst/>
          </a:prstGeom>
          <a:ln w="2159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11376000" y="8712000"/>
            <a:ext cx="1260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60" b="0">
                <a:solidFill>
                  <a:srgbClr val="0F172A"/>
                </a:solidFill>
                <a:latin typeface="Arial"/>
              </a:rPr>
              <a:t>ilgi zayıf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5999" y="8712000"/>
            <a:ext cx="24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60" b="0">
                <a:solidFill>
                  <a:srgbClr val="0F172A"/>
                </a:solidFill>
                <a:latin typeface="Arial"/>
              </a:rPr>
              <a:t>satın alma niyeti güçlü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6775999" y="6173999"/>
            <a:ext cx="2951999" cy="1980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883999" y="6263999"/>
            <a:ext cx="2700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70" b="1">
                <a:solidFill>
                  <a:srgbClr val="1E40AF"/>
                </a:solidFill>
                <a:latin typeface="Arial"/>
              </a:rPr>
              <a:t>R[u,i] Etkileşim Matrisi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2980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76652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80324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3996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766800" y="6480000"/>
            <a:ext cx="27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İ5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973999" y="6667200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7298000" y="6623999"/>
            <a:ext cx="280800" cy="280800"/>
          </a:xfrm>
          <a:prstGeom prst="rect">
            <a:avLst/>
          </a:prstGeom>
          <a:solidFill>
            <a:srgbClr val="BFDBFE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7665200" y="6623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8032400" y="6623999"/>
            <a:ext cx="280800" cy="280800"/>
          </a:xfrm>
          <a:prstGeom prst="rect">
            <a:avLst/>
          </a:prstGeom>
          <a:solidFill>
            <a:srgbClr val="60A5FA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8399600" y="6623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8766800" y="6623999"/>
            <a:ext cx="280800" cy="280800"/>
          </a:xfrm>
          <a:prstGeom prst="rect">
            <a:avLst/>
          </a:prstGeom>
          <a:solidFill>
            <a:srgbClr val="10B981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6973999" y="7009200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U2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298000" y="6965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7665200" y="6965999"/>
            <a:ext cx="280800" cy="280800"/>
          </a:xfrm>
          <a:prstGeom prst="rect">
            <a:avLst/>
          </a:prstGeom>
          <a:solidFill>
            <a:srgbClr val="93C5FD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8032400" y="6965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8399600" y="6965999"/>
            <a:ext cx="280800" cy="280800"/>
          </a:xfrm>
          <a:prstGeom prst="rect">
            <a:avLst/>
          </a:prstGeom>
          <a:solidFill>
            <a:srgbClr val="34D399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8766800" y="6965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973999" y="7351199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U3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7298000" y="7307999"/>
            <a:ext cx="280800" cy="280800"/>
          </a:xfrm>
          <a:prstGeom prst="rect">
            <a:avLst/>
          </a:prstGeom>
          <a:solidFill>
            <a:srgbClr val="60A5FA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7665200" y="7307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032400" y="7307999"/>
            <a:ext cx="280800" cy="280800"/>
          </a:xfrm>
          <a:prstGeom prst="rect">
            <a:avLst/>
          </a:prstGeom>
          <a:solidFill>
            <a:srgbClr val="BFDBFE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8399600" y="7307999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8766800" y="7307999"/>
            <a:ext cx="280800" cy="280800"/>
          </a:xfrm>
          <a:prstGeom prst="rect">
            <a:avLst/>
          </a:prstGeom>
          <a:solidFill>
            <a:srgbClr val="34D399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6973999" y="7693200"/>
            <a:ext cx="198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0F172A"/>
                </a:solidFill>
                <a:latin typeface="Arial"/>
              </a:rPr>
              <a:t>U4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7298000" y="7650000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7665200" y="7650000"/>
            <a:ext cx="280800" cy="280800"/>
          </a:xfrm>
          <a:prstGeom prst="rect">
            <a:avLst/>
          </a:prstGeom>
          <a:solidFill>
            <a:srgbClr val="10B981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8032400" y="7650000"/>
            <a:ext cx="280800" cy="280800"/>
          </a:xfrm>
          <a:prstGeom prst="rect">
            <a:avLst/>
          </a:prstGeom>
          <a:solidFill>
            <a:srgbClr val="93C5FD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8399600" y="7650000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8766800" y="7650000"/>
            <a:ext cx="280800" cy="280800"/>
          </a:xfrm>
          <a:prstGeom prst="rect">
            <a:avLst/>
          </a:prstGeom>
          <a:solidFill>
            <a:srgbClr val="E2E8F0"/>
          </a:solidFill>
          <a:ln w="444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7009999" y="7920000"/>
            <a:ext cx="2484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40" b="1">
                <a:solidFill>
                  <a:srgbClr val="475569"/>
                </a:solidFill>
                <a:latin typeface="Arial"/>
              </a:rPr>
              <a:t>0: yok  •  5: güçlü niyet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1016000" y="9917999"/>
            <a:ext cx="9072000" cy="4176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1016000" y="9917999"/>
            <a:ext cx="79200" cy="4176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1016000" y="99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1069999" y="99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Pilot Veri Planı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134799" y="10439999"/>
            <a:ext cx="8834400" cy="3581999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Tez sunumu öncesinde küçük ölçekli gerçek kampüs pilotu yapılacaktır.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Planlanan veri: 30-50 ilan, 10-20 PAÜ öğrencisi, kişi başı 10-20 etkileşim.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Her kullanıcı kendi okul e-postasıyla giriş yapacak; görüntüleme, favori, mesaj ve anlaşma isteği davranışları toplanacaktır.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90" b="0">
                <a:solidFill>
                  <a:srgbClr val="0F172A"/>
                </a:solidFill>
                <a:latin typeface="Arial"/>
              </a:rPr>
              <a:t>Amaç sentetik veri yerine gerçek öğrencilerden kontrollü ve açıklanabilir pilot veri elde etmektir.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519999" y="11970000"/>
            <a:ext cx="7848000" cy="1872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735999" y="12096000"/>
            <a:ext cx="2520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E40AF"/>
                </a:solidFill>
                <a:latin typeface="Arial"/>
              </a:rPr>
              <a:t>Pilot veri hedefi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771999" y="12463200"/>
            <a:ext cx="108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rial"/>
              </a:rPr>
              <a:t>İlan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2960000" y="12420000"/>
            <a:ext cx="5256000" cy="198000"/>
          </a:xfrm>
          <a:prstGeom prst="rect">
            <a:avLst/>
          </a:prstGeom>
          <a:solidFill>
            <a:srgbClr val="E5F1FF"/>
          </a:solidFill>
          <a:ln w="2540">
            <a:solidFill>
              <a:srgbClr val="E5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2960000" y="12420000"/>
            <a:ext cx="657000" cy="198000"/>
          </a:xfrm>
          <a:prstGeom prst="rect">
            <a:avLst/>
          </a:prstGeom>
          <a:solidFill>
            <a:srgbClr val="2563EB"/>
          </a:solidFill>
          <a:ln w="25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8360000" y="12412799"/>
            <a:ext cx="6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19" b="1">
                <a:solidFill>
                  <a:srgbClr val="2563EB"/>
                </a:solidFill>
                <a:latin typeface="Arial"/>
              </a:rPr>
              <a:t>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771999" y="12887999"/>
            <a:ext cx="108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rial"/>
              </a:rPr>
              <a:t>Öğrenci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2960000" y="12844800"/>
            <a:ext cx="5256000" cy="198000"/>
          </a:xfrm>
          <a:prstGeom prst="rect">
            <a:avLst/>
          </a:prstGeom>
          <a:solidFill>
            <a:srgbClr val="E5F1FF"/>
          </a:solidFill>
          <a:ln w="2540">
            <a:solidFill>
              <a:srgbClr val="E5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2960000" y="12844800"/>
            <a:ext cx="396000" cy="198000"/>
          </a:xfrm>
          <a:prstGeom prst="rect">
            <a:avLst/>
          </a:prstGeom>
          <a:solidFill>
            <a:srgbClr val="10B981"/>
          </a:solidFill>
          <a:ln w="25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8360000" y="12837599"/>
            <a:ext cx="6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19" b="1">
                <a:solidFill>
                  <a:srgbClr val="10B981"/>
                </a:solidFill>
                <a:latin typeface="Arial"/>
              </a:rPr>
              <a:t>20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1771999" y="13312799"/>
            <a:ext cx="1080000" cy="125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" b="1">
                <a:solidFill>
                  <a:srgbClr val="0F172A"/>
                </a:solidFill>
                <a:latin typeface="Arial"/>
              </a:rPr>
              <a:t>Etkileşim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2960000" y="13269600"/>
            <a:ext cx="5256000" cy="198000"/>
          </a:xfrm>
          <a:prstGeom prst="rect">
            <a:avLst/>
          </a:prstGeom>
          <a:solidFill>
            <a:srgbClr val="E5F1FF"/>
          </a:solidFill>
          <a:ln w="2540">
            <a:solidFill>
              <a:srgbClr val="E5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2960000" y="13269600"/>
            <a:ext cx="5256000" cy="198000"/>
          </a:xfrm>
          <a:prstGeom prst="rect">
            <a:avLst/>
          </a:prstGeom>
          <a:solidFill>
            <a:srgbClr val="0F172A"/>
          </a:solidFill>
          <a:ln w="25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8360000" y="13262399"/>
            <a:ext cx="648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19" b="1">
                <a:solidFill>
                  <a:srgbClr val="0F172A"/>
                </a:solidFill>
                <a:latin typeface="Arial"/>
              </a:rPr>
              <a:t>400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771999" y="13536000"/>
            <a:ext cx="7200000" cy="1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80" b="1">
                <a:solidFill>
                  <a:srgbClr val="475569"/>
                </a:solidFill>
                <a:latin typeface="Arial"/>
              </a:rPr>
              <a:t>Sentetik veri değil, kontrollü gerçek kampüs etkileşimi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1016000" y="14417999"/>
            <a:ext cx="9072000" cy="360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1016000" y="14417999"/>
            <a:ext cx="79200" cy="360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1016000" y="14417999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1069999" y="14482799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Değerlendirme Yaklaşımı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1134799" y="14940000"/>
            <a:ext cx="8834400" cy="300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Bu sistem klasik sınıflandırma problemi olmadığı için tek başına accuracy metriği kullanılmaz.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Recommender sistemlerde Top-N sıralama metrikleri daha uygundur: Precision@5, Recall@5, HitRate@5, NDCG@5 ve RMSE.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40" b="0">
                <a:solidFill>
                  <a:srgbClr val="0F172A"/>
                </a:solidFill>
                <a:latin typeface="Arial"/>
              </a:rPr>
              <a:t>Pilot veri toplandıktan sonra model PAÜ Market verisiyle yeniden eğitilecek ve sonuçlar bu tabloya işlenecektir.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11196000" y="18198000"/>
          <a:ext cx="8712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6320"/>
                <a:gridCol w="2178000"/>
                <a:gridCol w="3397680"/>
              </a:tblGrid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Metrik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Durum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</a:rPr>
                        <a:t>Anlamı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Precision@5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 önerinin isabeti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HitRate@5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İlk 5'te doğru öneri var mı?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Recall@5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İlgili ilanları yakalama oranı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NDCG@5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Doğru önerinin sıralamadaki yeri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172A"/>
                          </a:solidFill>
                          <a:latin typeface="Arial"/>
                        </a:rPr>
                        <a:t>RMSE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Pilot sonrası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Arial"/>
                        </a:rPr>
                        <a:t>Etkileşim tahmin hatası</a:t>
                      </a:r>
                    </a:p>
                  </a:txBody>
                  <a:tcPr>
                    <a:solidFill>
                      <a:srgbClr val="E5F1FF"/>
                    </a:solidFill>
                  </a:tcPr>
                </a:tc>
              </a:tr>
            </a:tbl>
          </a:graphicData>
        </a:graphic>
      </p:graphicFrame>
      <p:sp>
        <p:nvSpPr>
          <p:cNvPr id="169" name="Rectangle 168"/>
          <p:cNvSpPr/>
          <p:nvPr/>
        </p:nvSpPr>
        <p:spPr>
          <a:xfrm>
            <a:off x="11286000" y="21078000"/>
            <a:ext cx="2394000" cy="118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286000" y="21078000"/>
            <a:ext cx="2394000" cy="864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1412000" y="21275999"/>
            <a:ext cx="2142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19" b="1">
                <a:solidFill>
                  <a:srgbClr val="1E40AF"/>
                </a:solidFill>
                <a:latin typeface="Arial"/>
              </a:rPr>
              <a:t>Precision@5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1484000" y="21564000"/>
            <a:ext cx="1998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" b="0">
                <a:solidFill>
                  <a:srgbClr val="0F172A"/>
                </a:solidFill>
                <a:latin typeface="Arial"/>
              </a:rPr>
              <a:t>İlk 5 öneri</a:t>
            </a:r>
            <a:br/>
            <a:r>
              <a:t>ne kadar isabetli?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3931999" y="21078000"/>
            <a:ext cx="2394000" cy="118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3931999" y="21078000"/>
            <a:ext cx="2394000" cy="86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4057999" y="21275999"/>
            <a:ext cx="2142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19" b="1">
                <a:solidFill>
                  <a:srgbClr val="1E40AF"/>
                </a:solidFill>
                <a:latin typeface="Arial"/>
              </a:rPr>
              <a:t>Recall@5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4129999" y="21564000"/>
            <a:ext cx="1998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" b="0">
                <a:solidFill>
                  <a:srgbClr val="0F172A"/>
                </a:solidFill>
                <a:latin typeface="Arial"/>
              </a:rPr>
              <a:t>İlgili ilanların</a:t>
            </a:r>
            <a:br/>
            <a:r>
              <a:t>ne kadarı yakalandı?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6577999" y="21078000"/>
            <a:ext cx="2394000" cy="1188000"/>
          </a:xfrm>
          <a:prstGeom prst="rect">
            <a:avLst/>
          </a:prstGeom>
          <a:solidFill>
            <a:srgbClr val="FFFFFF"/>
          </a:solidFill>
          <a:ln w="1016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6577999" y="21078000"/>
            <a:ext cx="2394000" cy="864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6704000" y="21275999"/>
            <a:ext cx="2142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19" b="1">
                <a:solidFill>
                  <a:srgbClr val="1E40AF"/>
                </a:solidFill>
                <a:latin typeface="Arial"/>
              </a:rPr>
              <a:t>NDCG@5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6775999" y="21564000"/>
            <a:ext cx="1998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" b="0">
                <a:solidFill>
                  <a:srgbClr val="0F172A"/>
                </a:solidFill>
                <a:latin typeface="Arial"/>
              </a:rPr>
              <a:t>Doğru ilanlar</a:t>
            </a:r>
            <a:br/>
            <a:r>
              <a:t>üst sırada mı?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11016000" y="22698000"/>
            <a:ext cx="9072000" cy="3240000"/>
          </a:xfrm>
          <a:prstGeom prst="rect">
            <a:avLst/>
          </a:prstGeom>
          <a:solidFill>
            <a:srgbClr val="F6F9FF"/>
          </a:solidFill>
          <a:ln w="762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1016000" y="22698000"/>
            <a:ext cx="79200" cy="3240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1016000" y="22698000"/>
            <a:ext cx="9072000" cy="424800"/>
          </a:xfrm>
          <a:prstGeom prst="rect">
            <a:avLst/>
          </a:prstGeom>
          <a:solidFill>
            <a:srgbClr val="1E40AF"/>
          </a:solidFill>
          <a:ln w="508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1069999" y="22762800"/>
            <a:ext cx="8964000" cy="251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Beklenen Sonuç ve Katkılar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134799" y="23220000"/>
            <a:ext cx="8834400" cy="2646000"/>
          </a:xfrm>
          <a:prstGeom prst="rect">
            <a:avLst/>
          </a:prstGeom>
          <a:noFill/>
        </p:spPr>
        <p:txBody>
          <a:bodyPr wrap="square" lIns="50400" rIns="43200" tIns="18000">
            <a:spAutoFit/>
          </a:bodyPr>
          <a:lstStyle/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PAÜ Market, kampüs içinde doğrulanmış ve güvenli ikinci el alışveriş ortamı sunar.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Mesajlaşma ve anlaşma akışı sayesinde gerçek satın alma niyeti veri olarak toplanır.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Öneri sistemi kullanıcıların ilgi alanlarına göre ilanları sıralayarak keşif sürecini kolaylaştırır.</a:t>
            </a:r>
          </a:p>
          <a:p>
            <a:pPr>
              <a:lnSpc>
                <a:spcPct val="102000"/>
              </a:lnSpc>
              <a:spcAft>
                <a:spcPts val="500"/>
              </a:spcAft>
            </a:pPr>
            <a:r>
              <a:rPr sz="1560" b="0">
                <a:solidFill>
                  <a:srgbClr val="0F172A"/>
                </a:solidFill>
                <a:latin typeface="Arial"/>
              </a:rPr>
              <a:t>• Mikroservis mimarisi, öneri modelini ana backend'den ayırarak sürdürülebilir bir yapı sağlar.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214000" y="26118000"/>
            <a:ext cx="8676000" cy="1098000"/>
          </a:xfrm>
          <a:prstGeom prst="rect">
            <a:avLst/>
          </a:prstGeom>
          <a:solidFill>
            <a:srgbClr val="FFFFFF"/>
          </a:solidFill>
          <a:ln w="889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1214000" y="26118000"/>
            <a:ext cx="90000" cy="109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1412000" y="26243999"/>
            <a:ext cx="1800000" cy="17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80" b="1">
                <a:solidFill>
                  <a:srgbClr val="1E40AF"/>
                </a:solidFill>
                <a:latin typeface="Arial"/>
              </a:rPr>
              <a:t>Cold-start kalkanı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3374000" y="26423999"/>
            <a:ext cx="1170000" cy="342000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/>
              </a:rPr>
              <a:t>Onboarding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14561999" y="26593199"/>
            <a:ext cx="306001" cy="0"/>
          </a:xfrm>
          <a:prstGeom prst="line">
            <a:avLst/>
          </a:prstGeom>
          <a:ln w="2159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ounded Rectangle 190"/>
          <p:cNvSpPr/>
          <p:nvPr/>
        </p:nvSpPr>
        <p:spPr>
          <a:xfrm>
            <a:off x="14922000" y="26423999"/>
            <a:ext cx="1170000" cy="342000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/>
              </a:rPr>
              <a:t>Kategori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16110000" y="26593199"/>
            <a:ext cx="198000" cy="0"/>
          </a:xfrm>
          <a:prstGeom prst="line">
            <a:avLst/>
          </a:prstGeom>
          <a:ln w="2159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Rounded Rectangle 192"/>
          <p:cNvSpPr/>
          <p:nvPr/>
        </p:nvSpPr>
        <p:spPr>
          <a:xfrm>
            <a:off x="16362000" y="26423999"/>
            <a:ext cx="1170000" cy="342000"/>
          </a:xfrm>
          <a:prstGeom prst="roundRect">
            <a:avLst/>
          </a:prstGeom>
          <a:solidFill>
            <a:srgbClr val="1E40AF"/>
          </a:solidFill>
          <a:ln w="1016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/>
              </a:rPr>
              <a:t>Yeni/Popüler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17550000" y="26593199"/>
            <a:ext cx="450000" cy="0"/>
          </a:xfrm>
          <a:prstGeom prst="line">
            <a:avLst/>
          </a:prstGeom>
          <a:ln w="2159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/>
          <p:cNvSpPr/>
          <p:nvPr/>
        </p:nvSpPr>
        <p:spPr>
          <a:xfrm>
            <a:off x="18054000" y="26423999"/>
            <a:ext cx="1170000" cy="342000"/>
          </a:xfrm>
          <a:prstGeom prst="roundRect">
            <a:avLst/>
          </a:prstGeom>
          <a:solidFill>
            <a:srgbClr val="0F172A"/>
          </a:solidFill>
          <a:ln w="1016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40" b="1">
                <a:solidFill>
                  <a:srgbClr val="FFFFFF"/>
                </a:solidFill>
                <a:latin typeface="Arial"/>
              </a:rPr>
              <a:t>Dolu vitrin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412000" y="26881200"/>
            <a:ext cx="8172000" cy="17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475569"/>
                </a:solidFill>
                <a:latin typeface="Arial"/>
              </a:rPr>
              <a:t>Model yeni kullanıcıyı tanımadığında sistem boş kalmaz; yerel PAÜ ilanlarıyla öneri üretir.</a:t>
            </a:r>
          </a:p>
        </p:txBody>
      </p:sp>
      <p:sp>
        <p:nvSpPr>
          <p:cNvPr id="197" name="Oval 196"/>
          <p:cNvSpPr/>
          <p:nvPr/>
        </p:nvSpPr>
        <p:spPr>
          <a:xfrm>
            <a:off x="4734000" y="28656000"/>
            <a:ext cx="864000" cy="8640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824000" y="28936800"/>
            <a:ext cx="684000" cy="19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GBYF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5813999" y="28620000"/>
            <a:ext cx="8640000" cy="32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Genç Beyinler Yeni Fikirler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5813999" y="28980000"/>
            <a:ext cx="8640000" cy="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000000"/>
                </a:solidFill>
                <a:latin typeface="Arial"/>
              </a:rPr>
              <a:t>Proje Pazarı ve Bitirme Projeleri Ortak Sergisi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